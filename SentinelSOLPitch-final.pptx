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JetBrains Mono Medium"/>
      <p:regular r:id="rId17"/>
      <p:bold r:id="rId18"/>
      <p:italic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9F9BEC-C8E6-4E01-99BC-FAB1AAA3B6F2}">
  <a:tblStyle styleId="{839F9BEC-C8E6-4E01-99BC-FAB1AAA3B6F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Medium-boldItalic.fntdata"/><Relationship Id="rId22" Type="http://schemas.openxmlformats.org/officeDocument/2006/relationships/font" Target="fonts/InterMedium-bold.fntdata"/><Relationship Id="rId21" Type="http://schemas.openxmlformats.org/officeDocument/2006/relationships/font" Target="fonts/InterMedium-regular.fntdata"/><Relationship Id="rId24" Type="http://schemas.openxmlformats.org/officeDocument/2006/relationships/font" Target="fonts/InterMedium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-regular.fntdata"/><Relationship Id="rId12" Type="http://schemas.openxmlformats.org/officeDocument/2006/relationships/slide" Target="slides/slide6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JetBrainsMonoMedium-regular.fntdata"/><Relationship Id="rId16" Type="http://schemas.openxmlformats.org/officeDocument/2006/relationships/font" Target="fonts/Inter-boldItalic.fntdata"/><Relationship Id="rId19" Type="http://schemas.openxmlformats.org/officeDocument/2006/relationships/font" Target="fonts/JetBrainsMonoMedium-italic.fntdata"/><Relationship Id="rId18" Type="http://schemas.openxmlformats.org/officeDocument/2006/relationships/font" Target="fonts/JetBrainsMon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title="logo.png"/>
          <p:cNvPicPr preferRelativeResize="0"/>
          <p:nvPr/>
        </p:nvPicPr>
        <p:blipFill rotWithShape="1">
          <a:blip r:embed="rId4">
            <a:alphaModFix/>
          </a:blip>
          <a:srcRect b="150" l="0" r="0" t="140"/>
          <a:stretch/>
        </p:blipFill>
        <p:spPr>
          <a:xfrm>
            <a:off x="5810250" y="171554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20678" y="2572791"/>
            <a:ext cx="5150643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Sentinel</a:t>
            </a:r>
            <a:r>
              <a:rPr b="1" i="0" lang="en-US" sz="5400" u="none" cap="none" strike="noStrike">
                <a:solidFill>
                  <a:srgbClr val="D95D39"/>
                </a:solidFill>
                <a:latin typeface="Inter"/>
                <a:ea typeface="Inter"/>
                <a:cs typeface="Inter"/>
                <a:sym typeface="Inter"/>
              </a:rPr>
              <a:t>SOL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43312" y="3612802"/>
            <a:ext cx="4905375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Zero-footprint, predictive observability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 for Solana validators.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643312" y="4942433"/>
            <a:ext cx="490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5D3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Colosseum Frontier • </a:t>
            </a:r>
            <a:r>
              <a:rPr lang="en-US" sz="1200">
                <a:solidFill>
                  <a:srgbClr val="D95D3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Validator and Staking Infra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6975" y="1663166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92634"/>
            <a:ext cx="5372100" cy="2832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792634"/>
            <a:ext cx="5372100" cy="283264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71550" y="2183159"/>
            <a:ext cx="4591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5D3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PROBLEM 01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71550" y="2383184"/>
            <a:ext cx="482060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5D39"/>
                </a:solidFill>
                <a:latin typeface="Inter"/>
                <a:ea typeface="Inter"/>
                <a:cs typeface="Inter"/>
                <a:sym typeface="Inter"/>
              </a:rPr>
              <a:t>THE BLIND WINDOW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1550" y="2825055"/>
            <a:ext cx="4591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Hardware exhaustion precedes delinquency. Currently, operators have a 4–12 minute window where their node is dying, but their alerts are silent.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2183159"/>
            <a:ext cx="4591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5D3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PROBLEM 02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29400" y="2383184"/>
            <a:ext cx="482060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5D39"/>
                </a:solidFill>
                <a:latin typeface="Inter"/>
                <a:ea typeface="Inter"/>
                <a:cs typeface="Inter"/>
                <a:sym typeface="Inter"/>
              </a:rPr>
              <a:t>JITO-NATIVE BLINDNESS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29400" y="2825055"/>
            <a:ext cx="4591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Standard stacks (Node Exporter) don't track ShredStream latency or Block Engine acceptance rates. If MEV tips drop, you don't know until the epoch ends.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5006280"/>
            <a:ext cx="34163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D95D3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4-12m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5758755"/>
            <a:ext cx="341634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INVISIBLE FAILURE WINDOW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387899" y="5006280"/>
            <a:ext cx="34163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D95D3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ZERO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387899" y="5758755"/>
            <a:ext cx="341634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JITO-NATIVE TOOLING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194774" y="5006280"/>
            <a:ext cx="3416349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D95D3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$$$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194774" y="5758755"/>
            <a:ext cx="341634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CUMULATIVE TIP LOSS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Validators Bleed MEV Revenue Silently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7409"/>
            <a:ext cx="5229225" cy="394692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1897409"/>
            <a:ext cx="5490686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95D39"/>
                </a:solidFill>
                <a:latin typeface="Inter"/>
                <a:ea typeface="Inter"/>
                <a:cs typeface="Inter"/>
                <a:sym typeface="Inter"/>
              </a:rPr>
              <a:t>Industry Default: Too Little, Too Late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81025" y="2758231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Every existing monitor is reactive by construction. By the time a "Validator Delinquent" alert fires: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81025" y="5044231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5D3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Standard dashboards track uptime. SentinelSOL tracks revenue.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81025" y="3558331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30+ Slots have already been missed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81025" y="4053631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Jito Tip revenue is already forfeited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81025" y="4548931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SFDP Pruning risk has spiked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1071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0601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601319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Reactive Alerts: A Post-Mortem Strategy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34858"/>
          <a:stretch/>
        </p:blipFill>
        <p:spPr>
          <a:xfrm>
            <a:off x="6381750" y="1332150"/>
            <a:ext cx="5229225" cy="527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76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81025" y="766763"/>
            <a:ext cx="494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5D3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X FOR Y ANALOGY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81025" y="966788"/>
            <a:ext cx="51906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Datadog for Jito Revenue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81025" y="2559248"/>
            <a:ext cx="49434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SentinelSOL is a proactive, Out-of-Band (OOB) telemetry sidecar that monitors the leading indicators of failure.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5856536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95D3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Live at </a:t>
            </a:r>
            <a:r>
              <a:rPr lang="en-US" sz="1500">
                <a:solidFill>
                  <a:srgbClr val="D95D3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sentinelsol-sre.vercel.app/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4170611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Go Daemon:</a:t>
            </a: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 Polls Jito-Solana RPC independently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4618286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Predictive:</a:t>
            </a: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 Tracks ShredStream latency trends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5065961"/>
            <a:ext cx="494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OOB:</a:t>
            </a: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 Zero impact on validator hot-path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2229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67067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11834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4400" y="159275"/>
            <a:ext cx="6631752" cy="657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347394"/>
            <a:ext cx="1102995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1404044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I am</a:t>
            </a: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not </a:t>
            </a: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targeting a billion-dollar generic market. </a:t>
            </a:r>
            <a:r>
              <a:rPr lang="en-US" sz="1500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I am </a:t>
            </a: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targeting the top-tier operators who keep Solana running.</a:t>
            </a:r>
            <a:endParaRPr/>
          </a:p>
        </p:txBody>
      </p:sp>
      <p:graphicFrame>
        <p:nvGraphicFramePr>
          <p:cNvPr id="152" name="Google Shape;152;p17"/>
          <p:cNvGraphicFramePr/>
          <p:nvPr/>
        </p:nvGraphicFramePr>
        <p:xfrm>
          <a:off x="581025" y="21850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{839F9BEC-C8E6-4E01-99BC-FAB1AAA3B6F2}</a:tableStyleId>
              </a:tblPr>
              <a:tblGrid>
                <a:gridCol w="3681400"/>
                <a:gridCol w="1776125"/>
                <a:gridCol w="5572425"/>
              </a:tblGrid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95D3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95D3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D95D39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PAIN 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 Solana Validators</a:t>
                      </a:r>
                      <a:endParaRPr>
                        <a:solidFill>
                          <a:srgbClr val="3C78D8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95D39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~1,400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General Network Health</a:t>
                      </a:r>
                      <a:endParaRPr>
                        <a:solidFill>
                          <a:srgbClr val="3C78D8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Jito-Solana Nodes</a:t>
                      </a:r>
                      <a:endParaRPr>
                        <a:solidFill>
                          <a:srgbClr val="3C78D8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C78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95D39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600–900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MEV / Tip Revenue Sensitivity</a:t>
                      </a:r>
                      <a:endParaRPr>
                        <a:solidFill>
                          <a:srgbClr val="3C78D8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C78D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Institutional (Target)</a:t>
                      </a:r>
                      <a:endParaRPr>
                        <a:solidFill>
                          <a:srgbClr val="3C78D8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95D39"/>
                          </a:solidFill>
                          <a:latin typeface="JetBrains Mono Medium"/>
                          <a:ea typeface="JetBrains Mono Medium"/>
                          <a:cs typeface="JetBrains Mono Medium"/>
                          <a:sym typeface="JetBrains Mono Medium"/>
                        </a:rPr>
                        <a:t>Top 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0EBE1"/>
                          </a:solidFill>
                          <a:highlight>
                            <a:srgbClr val="3C78D8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SLA Enforcement &amp; SFDP Protection</a:t>
                      </a:r>
                      <a:endParaRPr>
                        <a:highlight>
                          <a:srgbClr val="3C78D8"/>
                        </a:highlight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17"/>
          <p:cNvSpPr/>
          <p:nvPr/>
        </p:nvSpPr>
        <p:spPr>
          <a:xfrm>
            <a:off x="581025" y="2861369"/>
            <a:ext cx="3681412" cy="1905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4262437" y="2861369"/>
            <a:ext cx="1776114" cy="1905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038552" y="2861369"/>
            <a:ext cx="5572422" cy="1905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828600" y="5661694"/>
            <a:ext cx="10534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D9EEB"/>
                </a:solidFill>
                <a:latin typeface="Times"/>
                <a:ea typeface="Times"/>
                <a:cs typeface="Times"/>
                <a:sym typeface="Times"/>
              </a:rPr>
              <a:t>100% Open-Source Primitive. No vendor lock-in. No SaaS fees. Deployable to any bare-metal validator instantly via “make up”.</a:t>
            </a:r>
            <a:endParaRPr sz="1800">
              <a:solidFill>
                <a:srgbClr val="6D9EEB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81025" y="3570982"/>
            <a:ext cx="3681412" cy="9525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4262437" y="3570982"/>
            <a:ext cx="1776114" cy="9525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038552" y="3570982"/>
            <a:ext cx="5572422" cy="9525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81025" y="4266307"/>
            <a:ext cx="3681412" cy="9525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262437" y="4266307"/>
            <a:ext cx="1776114" cy="9525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038552" y="4266307"/>
            <a:ext cx="5572422" cy="9525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71525" y="329654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Concentrated Market. High-Impact Revenue.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81025" y="329654"/>
            <a:ext cx="47625" cy="50289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99245"/>
            <a:ext cx="1102995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680245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3819525" y="2784127"/>
            <a:ext cx="778097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95D39"/>
                </a:solidFill>
                <a:latin typeface="Inter"/>
                <a:ea typeface="Inter"/>
                <a:cs typeface="Inter"/>
                <a:sym typeface="Inter"/>
              </a:rPr>
              <a:t>Hamza Shaikh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3819525" y="3262163"/>
            <a:ext cx="741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5D3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M.Sc. </a:t>
            </a:r>
            <a:r>
              <a:rPr lang="en-US" sz="1200">
                <a:solidFill>
                  <a:srgbClr val="D95D3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Computer Science </a:t>
            </a:r>
            <a:r>
              <a:rPr b="0" i="0" lang="en-US" sz="1200" u="none" cap="none" strike="noStrike">
                <a:solidFill>
                  <a:srgbClr val="D95D39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• Solo SRE Architect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3819525" y="3652688"/>
            <a:ext cx="7410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SRE henchman </a:t>
            </a: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responsible for cloud migrations and 25% OpEx reduction at B2C</a:t>
            </a:r>
            <a:r>
              <a:rPr lang="en-US" sz="1500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 Shark Tank India startup</a:t>
            </a:r>
            <a:r>
              <a:rPr b="0" i="0" lang="en-US" sz="15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. I built SentinelSOL because in a high-stakes network like Solana, reactive observability is negligence.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114775" y="4757588"/>
            <a:ext cx="611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5D39"/>
                </a:solidFill>
                <a:latin typeface="Inter Medium"/>
                <a:ea typeface="Inter Medium"/>
                <a:cs typeface="Inter Medium"/>
                <a:sym typeface="Inter Medium"/>
              </a:rPr>
              <a:t> Raynzler</a:t>
            </a:r>
            <a:r>
              <a:rPr b="0" i="0" lang="en-US" sz="12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b="0" i="0" lang="en-US" sz="1200" u="none" cap="none" strike="noStrike">
                <a:solidFill>
                  <a:srgbClr val="D95D39"/>
                </a:solidFill>
                <a:latin typeface="Inter Medium"/>
                <a:ea typeface="Inter Medium"/>
                <a:cs typeface="Inter Medium"/>
                <a:sym typeface="Inter Medium"/>
              </a:rPr>
              <a:t>     @shamza31</a:t>
            </a:r>
            <a:r>
              <a:rPr b="0" i="0" lang="en-US" sz="12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D95D39"/>
                </a:solidFill>
                <a:latin typeface="Inter Medium"/>
                <a:ea typeface="Inter Medium"/>
                <a:cs typeface="Inter Medium"/>
                <a:sym typeface="Inter Medium"/>
              </a:rPr>
              <a:t>       </a:t>
            </a:r>
            <a:r>
              <a:rPr lang="en-US" sz="1200">
                <a:solidFill>
                  <a:srgbClr val="D95D39"/>
                </a:solidFill>
                <a:latin typeface="Inter Medium"/>
                <a:ea typeface="Inter Medium"/>
                <a:cs typeface="Inter Medium"/>
                <a:sym typeface="Inter Medium"/>
              </a:rPr>
              <a:t>sentinelsol-sre.vercel.app/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24875" y="481946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4175" y="481946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14725" y="481946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0EBE1"/>
                </a:solidFill>
                <a:latin typeface="Inter"/>
                <a:ea typeface="Inter"/>
                <a:cs typeface="Inter"/>
                <a:sym typeface="Inter"/>
              </a:rPr>
              <a:t>Built Solo. Engineered to Scale.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81025" y="581025"/>
            <a:ext cx="47625" cy="502890"/>
          </a:xfrm>
          <a:prstGeom prst="rect">
            <a:avLst/>
          </a:prstGeom>
          <a:solidFill>
            <a:srgbClr val="D95D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62025" y="2680250"/>
            <a:ext cx="265792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